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o tema da exposição é eficiência energética no agro; o BESS é o instrumento que a viabiliza economicamente.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pilares da tese: regulação madura, novo papel econômico do ativo e números de viabilidade já comprovados.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mostra o descompasso: pico solar ao meio-dia versus pico de consumo no início da noite. O BESS faz a ponte temporal entre 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Ilustração conceitual: (1) UFV gera no pico solar; (2) BESS armazena o excedente; (3) descarga na ponta e no horário reservado aciona a irrigação bombeada, com a rede como via de créditos.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mecanismos complementares: Time Shifting ataca a tarifa de energia (kWh); Peak Shaving ataca a tarifa de demanda (kW). No agro: irrigação no vazio e amortecimento dos picos de motores.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stacking: o mesmo BESS soma arbitragem, peak shaving, anti-curtailment e créditos de GD. Nenhuma camada sozinha fecha a conta; empilhadas, comprimem o payback para ~5 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Além das receitas, o BESS empilha serviços operacionais: backup (substitui diesel), qualidade de energia, postergação de reforços de rede e valor ESG com acesso a crédito verde.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Lei 14.300/2022 dá o modelo de negócio (Geração Compartilhada); a NBR 17153 dá a segurança técnica. Juntas, removem o risco regulatório.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as cinco etapas do modelo: geração, créditos, SPE, monetização com desconto e abatimento em fatura.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Composição do investimento de R$ 13,9 milhões. Destaque: BESS em azul (12,59%) e módulos FV em amarelo (27,5%).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MT: isenção de ICMS (17%) sobre energia compensada desde 2016; redução de 20% a.a. a partir de 2029 e fim em 2033. Bônus: ICMS zero em equipamentos de irrigação reduz o CAPEX do bombeamento.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Cenário agro otimizado: TIR 28%, payback ~5 anos, VPL R$ 11,1 mi (base: 21% / 7a9m / R$ 6,37 mi). Spread de ~R$ 256/MWh entre LCOE e preço da cota sustenta o modelo; o slide seguinte detalha as alavancas.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alavancas que levam o payback de 7a9m para ~5 anos: desconto noturno do irrigante (60-90%), crédito subsidiado do Plano Safra 2026/27 e benchmarks de mercado (5-6 anos em GD+BESS).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Barras escuras: capital ainda não recuperado (anos 0 a 5). Barras azuis: VPL positivo do ano 6 em diante, encerrando em R$ 11,1 mi no cenário agro otimizado.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BESS não é para todos: agronegócio e indústria com carga volátil capturam valor; cargas flat como data centers, não.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conceitual: o BESS converte intermitência em previsibilidade financeira empilhando múltiplas fontes de valor. Chamada à ação: o momento é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encerramento com identificação do autor responsável.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1051560"/>
            <a:ext cx="3566160" cy="4023360"/>
          </a:xfrm>
          <a:prstGeom prst="roundRect">
            <a:avLst>
              <a:gd name="adj" fmla="val 3077"/>
            </a:avLst>
          </a:prstGeom>
          <a:ln w="31750">
            <a:solidFill>
              <a:srgbClr val="F2B7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1691640"/>
            <a:ext cx="3566160" cy="4023360"/>
          </a:xfrm>
          <a:prstGeom prst="roundRect">
            <a:avLst>
              <a:gd name="adj" fmla="val 3077"/>
            </a:avLst>
          </a:prstGeom>
          <a:ln w="31750">
            <a:solidFill>
              <a:srgbClr val="2E7D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98280" y="2788920"/>
            <a:ext cx="1554480" cy="15544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08" y="3127248"/>
            <a:ext cx="877824" cy="8778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ARMAZENAMENTO DE ENERGIA POR BATERIAS · BESS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1325880"/>
            <a:ext cx="6949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Eficiência Energética</a:t>
            </a:r>
            <a:endParaRPr lang="en-US" sz="4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Agro: a Revolução</a:t>
            </a:r>
            <a:endParaRPr lang="en-US" sz="4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Armazenamento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85800" y="41148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6D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os Sistemas de Armazenamento de Energia por Baterias (BESS) transformam a energia do campo — da viabilidade técnica à máquina de arbitragem financeira.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13232" y="5440680"/>
            <a:ext cx="2011680" cy="0"/>
          </a:xfrm>
          <a:prstGeom prst="line">
            <a:avLst/>
          </a:prstGeom>
          <a:noFill/>
          <a:ln w="12700">
            <a:solidFill>
              <a:srgbClr val="3D56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5778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Lucas Silva Costa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9F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CREA-MT 029137  ·  Relatório Executivo de Viabilidade de Mercado  ·  2026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Ponto de Inflexão: por que investir em BESS agora?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93592" cy="4297680"/>
          </a:xfrm>
          <a:prstGeom prst="roundRect">
            <a:avLst>
              <a:gd name="adj" fmla="val 2290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41248" y="1920240"/>
            <a:ext cx="603504" cy="603504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019" y="2053011"/>
            <a:ext cx="337962" cy="3379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69748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Maturidade Regulatória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41248" y="3429000"/>
            <a:ext cx="3008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armazenamento deixa de ser um “limbo jurídico”. A evolução do Marco Legal (Lei nº 14.300/2022) e a revisão da ABNT NBR 17153 (prevista para fev/2026) estabelecem segurança jurídica e padronização para operação on-grid.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70832" y="1600200"/>
            <a:ext cx="3593592" cy="4297680"/>
          </a:xfrm>
          <a:prstGeom prst="roundRect">
            <a:avLst>
              <a:gd name="adj" fmla="val 2290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920240"/>
            <a:ext cx="603504" cy="603504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211" y="2053011"/>
            <a:ext cx="337962" cy="3379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269748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Valor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663440" y="3429000"/>
            <a:ext cx="3008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BESS transcende a função de backup: configura-se como ativo de arbitragem, capaz de mitigar o curtailment, faturar no horário de ponta e reduzir custos de demanda — do pivô de irrigação à agroindústria.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93024" y="1600200"/>
            <a:ext cx="3593592" cy="4297680"/>
          </a:xfrm>
          <a:prstGeom prst="roundRect">
            <a:avLst>
              <a:gd name="adj" fmla="val 2290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85632" y="1920240"/>
            <a:ext cx="603504" cy="603504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403" y="2053011"/>
            <a:ext cx="337962" cy="3379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85632" y="2697480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Viabilidade Comprovada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485632" y="3429000"/>
            <a:ext cx="3008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robustos em projetos híbridos de Geração Compartilhada — modelo com vocação natural para o agro: TIR de até 28% e payback de aproximadamente 5 anos em operações com irrigação bombeada.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Lucas Silva Costa  ·  CREA-MT 029137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 Físico: intermitência, restrição de injeção e curtailment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657600" cy="4434840"/>
          </a:xfrm>
          <a:prstGeom prst="roundRect">
            <a:avLst>
              <a:gd name="adj" fmla="val 2250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41248" y="1920240"/>
            <a:ext cx="603504" cy="603504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019" y="2053011"/>
            <a:ext cx="337962" cy="3379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697480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desperdício à receita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41248" y="3200400"/>
            <a:ext cx="307238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rede brasileira frequentemente não consegue escoar o pico de geração solar, e o Operador Nacional do Sistema (ONS) impõe o curtailment — o corte compulsório de geração.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BESS absorve esse excedente do meio-dia e o converte em receita na ponta — exatamente quando irrigação, secagem e frio industrial mais pesam na conta do produtor.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1600200"/>
            <a:ext cx="7205472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pic>
        <p:nvPicPr>
          <p:cNvPr id="9" name="Image 1" descr="chart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057400"/>
            <a:ext cx="6766560" cy="35204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Lucas Silva Costa  ·  CREA-MT 029137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Conceito no Campo: como o Solar + BESS se conectam</a:t>
            </a:r>
            <a:endParaRPr lang="en-US" sz="3000" dirty="0"/>
          </a:p>
        </p:txBody>
      </p:sp>
      <p:pic>
        <p:nvPicPr>
          <p:cNvPr id="3" name="Image 0" descr="sce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70432"/>
            <a:ext cx="11091672" cy="39502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349240"/>
            <a:ext cx="402336" cy="40233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5349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78992" y="5294376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no pico solar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meio-dia, a UFV produz mais do que a fazenda consome — energia que a rede muitas vezes não consegue escoar.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370832" y="5349240"/>
            <a:ext cx="402336" cy="40233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8" name="Text 5"/>
          <p:cNvSpPr/>
          <p:nvPr/>
        </p:nvSpPr>
        <p:spPr>
          <a:xfrm>
            <a:off x="4370832" y="5349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01184" y="5294376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Armazenamento no BESS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bateria absorve o excedente (anti-curtailment) e carrega barato, inclusive no horário reservado do irrigante.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193024" y="5349240"/>
            <a:ext cx="402336" cy="40233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1" name="Text 8"/>
          <p:cNvSpPr/>
          <p:nvPr/>
        </p:nvSpPr>
        <p:spPr>
          <a:xfrm>
            <a:off x="8193024" y="5349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723376" y="5294376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inteligente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noite e na ponta, o BESS aciona bombas e pivôs sem tarifa alta — e a rede vira via de créditos, não de custo.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Lucas Silva Costa  ·  CREA-MT 029137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Mecanismos de Geração de Valor: a engenharia por trás do medidor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40680" cy="3931920"/>
          </a:xfrm>
          <a:prstGeom prst="roundRect">
            <a:avLst>
              <a:gd name="adj" fmla="val 2093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92808"/>
            <a:ext cx="566928" cy="566928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020824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5623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Shifting</a:t>
            </a:r>
            <a:endParaRPr lang="en-US" sz="2000" dirty="0"/>
          </a:p>
          <a:p>
            <a:pPr indent="0" marL="0">
              <a:buNone/>
            </a:pPr>
            <a:r>
              <a:rPr lang="en-US" sz="1150" i="1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Deslocamento temporal de energia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68680" y="2834640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spc="150" kern="0" dirty="0">
                <a:solidFill>
                  <a:srgbClr val="B7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FINANCEIRO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Arbitragem de tarifas intradiárias.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68680" y="3657600"/>
            <a:ext cx="4800600" cy="0"/>
          </a:xfrm>
          <a:prstGeom prst="line">
            <a:avLst/>
          </a:prstGeom>
          <a:noFill/>
          <a:ln w="9525">
            <a:solidFill>
              <a:srgbClr val="D9E2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3730752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spc="150" kern="0" dirty="0">
                <a:solidFill>
                  <a:srgbClr val="B7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 AFETADA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Tarifa de Energia — consumo em kWh.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68680" y="4553712"/>
            <a:ext cx="4800600" cy="0"/>
          </a:xfrm>
          <a:prstGeom prst="line">
            <a:avLst/>
          </a:prstGeom>
          <a:noFill/>
          <a:ln w="9525">
            <a:solidFill>
              <a:srgbClr val="D9E2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626864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spc="150" kern="0" dirty="0">
                <a:solidFill>
                  <a:srgbClr val="B7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OPERAÇÃO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Armazenar no vazio (baixo custo) e injetar ou consumir na ponta (alto custo).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45352" y="1600200"/>
            <a:ext cx="5440680" cy="3931920"/>
          </a:xfrm>
          <a:prstGeom prst="roundRect">
            <a:avLst>
              <a:gd name="adj" fmla="val 2093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65392" y="1892808"/>
            <a:ext cx="566928" cy="566928"/>
          </a:xfrm>
          <a:prstGeom prst="ellipse">
            <a:avLst/>
          </a:prstGeom>
          <a:solidFill>
            <a:srgbClr val="2E7DA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02082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96912" y="185623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Shaving</a:t>
            </a:r>
            <a:endParaRPr lang="en-US" sz="2000" dirty="0"/>
          </a:p>
          <a:p>
            <a:pPr indent="0" marL="0">
              <a:buNone/>
            </a:pPr>
            <a:r>
              <a:rPr lang="en-US" sz="1150" i="1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do pico de demanda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565392" y="2834640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spc="150" kern="0" dirty="0">
                <a:solidFill>
                  <a:srgbClr val="2E7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FINANCEIRO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cirúrgico do custo de demanda contratada.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565392" y="3657600"/>
            <a:ext cx="4800600" cy="0"/>
          </a:xfrm>
          <a:prstGeom prst="line">
            <a:avLst/>
          </a:prstGeom>
          <a:noFill/>
          <a:ln w="9525">
            <a:solidFill>
              <a:srgbClr val="D9E2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565392" y="3730752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spc="150" kern="0" dirty="0">
                <a:solidFill>
                  <a:srgbClr val="2E7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 AFETADA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Tarifa de Demanda — potência em kW.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565392" y="4553712"/>
            <a:ext cx="4800600" cy="0"/>
          </a:xfrm>
          <a:prstGeom prst="line">
            <a:avLst/>
          </a:prstGeom>
          <a:noFill/>
          <a:ln w="9525">
            <a:solidFill>
              <a:srgbClr val="D9E2E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65392" y="4626864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spc="150" kern="0" dirty="0">
                <a:solidFill>
                  <a:srgbClr val="2E7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OPERAÇÃO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Descarregar a bateria somente quando o consumo ameaça ultrapassar a demanda contratada.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AF1F6"/>
          </a:solidFill>
          <a:ln/>
        </p:spPr>
      </p:sp>
      <p:sp>
        <p:nvSpPr>
          <p:cNvPr id="22" name="Text 18"/>
          <p:cNvSpPr/>
          <p:nvPr/>
        </p:nvSpPr>
        <p:spPr>
          <a:xfrm>
            <a:off x="777240" y="574243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agro:  </a:t>
            </a:r>
            <a:pPr indent="0" marL="0">
              <a:buNone/>
            </a:pPr>
            <a:r>
              <a:rPr lang="en-US" sz="120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deslocar bombeamento e irrigação para o vazio (Time Shifting) e absorver os picos de motores, secadores e câmaras frias (Peak Shaving) — eficiência energética direto na margem.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Lucas Silva Costa  ·  CREA-MT 029137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Empilhamento de Receitas: um ativo, várias fontes de valor</a:t>
            </a:r>
            <a:endParaRPr lang="en-US" sz="3000" dirty="0"/>
          </a:p>
        </p:txBody>
      </p:sp>
      <p:pic>
        <p:nvPicPr>
          <p:cNvPr id="3" name="Image 0" descr="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466344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23560" y="1536192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único ativo, quatro receitas simultâneas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623560" y="213969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2B705"/>
          </a:solidFill>
          <a:ln/>
        </p:spPr>
      </p:sp>
      <p:sp>
        <p:nvSpPr>
          <p:cNvPr id="6" name="Text 3"/>
          <p:cNvSpPr/>
          <p:nvPr/>
        </p:nvSpPr>
        <p:spPr>
          <a:xfrm>
            <a:off x="6025896" y="2084832"/>
            <a:ext cx="5586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 de GD / Geração Compartilhada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excedente injetado vira crédito na Energisa-MT e receita de cotas para a SPE.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23560" y="310896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7FB0CE"/>
          </a:solidFill>
          <a:ln/>
        </p:spPr>
      </p:sp>
      <p:sp>
        <p:nvSpPr>
          <p:cNvPr id="8" name="Text 5"/>
          <p:cNvSpPr/>
          <p:nvPr/>
        </p:nvSpPr>
        <p:spPr>
          <a:xfrm>
            <a:off x="6025896" y="3054096"/>
            <a:ext cx="5586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Anti-curtailment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rede não escoa deixa de ser perda: o BESS captura o excedente solar do meio-dia.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23560" y="407822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2E7DAF"/>
          </a:solidFill>
          <a:ln/>
        </p:spPr>
      </p:sp>
      <p:sp>
        <p:nvSpPr>
          <p:cNvPr id="10" name="Text 7"/>
          <p:cNvSpPr/>
          <p:nvPr/>
        </p:nvSpPr>
        <p:spPr>
          <a:xfrm>
            <a:off x="6025896" y="4023360"/>
            <a:ext cx="5586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Shaving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dos picos de demanda: contrato de demanda menor e fim das multas de ultrapassagem.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23560" y="504748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31485A"/>
          </a:solidFill>
          <a:ln/>
        </p:spPr>
      </p:sp>
      <p:sp>
        <p:nvSpPr>
          <p:cNvPr id="12" name="Text 9"/>
          <p:cNvSpPr/>
          <p:nvPr/>
        </p:nvSpPr>
        <p:spPr>
          <a:xfrm>
            <a:off x="6025896" y="4992624"/>
            <a:ext cx="5586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Arbitragem tarifária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 do modelo: carregar no vazio (e no horário do irrigante) e usar na ponta cara.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5998464"/>
            <a:ext cx="11091672" cy="420624"/>
          </a:xfrm>
          <a:prstGeom prst="roundRect">
            <a:avLst>
              <a:gd name="adj" fmla="val 17391"/>
            </a:avLst>
          </a:prstGeom>
          <a:solidFill>
            <a:srgbClr val="EAF1F6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5998464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segredo do retorno:  </a:t>
            </a:r>
            <a:pPr indent="0" marL="0">
              <a:buNone/>
            </a:pPr>
            <a:r>
              <a:rPr lang="en-US" sz="11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empilhamento — e não uma receita isolada — que comprime o payback para ≈ 5 anos e sustenta a TIR de até 28%.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Lucas Silva Costa  ·  CREA-MT 029137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Além da Receita: serviços que o BESS empilha na operação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2121408"/>
          </a:xfrm>
          <a:prstGeom prst="roundRect">
            <a:avLst>
              <a:gd name="adj" fmla="val 3879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41248" y="1828800"/>
            <a:ext cx="512064" cy="512064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02" y="1941454"/>
            <a:ext cx="286756" cy="2867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105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e resiliência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41248" y="2487168"/>
            <a:ext cx="48554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 o gerador a diesel: irrigação, ordenha e frio seguem operando nas quedas de rede — rotina nas linhas rurais de fim de rede.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45352" y="1554480"/>
            <a:ext cx="5440680" cy="2121408"/>
          </a:xfrm>
          <a:prstGeom prst="roundRect">
            <a:avLst>
              <a:gd name="adj" fmla="val 3879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828800"/>
            <a:ext cx="512064" cy="512064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614" y="1941454"/>
            <a:ext cx="286756" cy="2867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05472" y="18105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de energia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537960" y="2487168"/>
            <a:ext cx="48554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Estabiliza tensão e frequência em redes rurais fracas, protegendo motores, bombas e inversores contra afundamentos e surtos.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904488"/>
            <a:ext cx="5440680" cy="2121408"/>
          </a:xfrm>
          <a:prstGeom prst="roundRect">
            <a:avLst>
              <a:gd name="adj" fmla="val 3879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1248" y="4178808"/>
            <a:ext cx="512064" cy="512064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02" y="4291462"/>
            <a:ext cx="286756" cy="2867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41605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Crescer sem esperar a rede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41248" y="4837176"/>
            <a:ext cx="48554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Alivia o ramal e posterga reforços de rede e aumento de demanda: novos pivôs e cargas entram sem depender de obra da distribuidora.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45352" y="3904488"/>
            <a:ext cx="5440680" cy="2121408"/>
          </a:xfrm>
          <a:prstGeom prst="roundRect">
            <a:avLst>
              <a:gd name="adj" fmla="val 3879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37960" y="4178808"/>
            <a:ext cx="512064" cy="512064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614" y="4291462"/>
            <a:ext cx="286756" cy="2867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05472" y="41605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 ESG e acesso a crédito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537960" y="4837176"/>
            <a:ext cx="48554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limpa e firme: lastro para certificações, metas de descarbonização e crédito verde (Plano Safra / RenovAgro).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serviço empilhado reduz risco operacional — valor que não aparece no fluxo de caixa, mas aparece na safra.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Lucas Silva Costa  ·  CREA-MT 029137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Alicerce Regulatório: padronização e legalidade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instrumentos sustentam a confiança do mercado — um viabiliza o negócio, o outro viabiliza a engenharia.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4389120"/>
          </a:xfrm>
          <a:prstGeom prst="roundRect">
            <a:avLst>
              <a:gd name="adj" fmla="val 1875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38528"/>
            <a:ext cx="566928" cy="566928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404" y="2063252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5681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7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VIABILIDADE DE NEGÓCIOS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600200" y="21945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Marco Legal — Lei nº 14.300/2022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14400" y="3154680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Instituiu a Geração Compartilhada no âmbito da Geração Distribuída.</a:t>
            </a:r>
            <a:endParaRPr lang="en-US" sz="12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a união de interessados via consórcio, cooperativa ou associação — arranjo natural para cooperativas e associações de produtores rurais — para compartilhar créditos de uma UFV de até 3 MW.</a:t>
            </a:r>
            <a:endParaRPr lang="en-US" sz="12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BESS atua como otimizador dessa injeção, maximizando o valor de cada crédito gerado.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45352" y="1645920"/>
            <a:ext cx="5440680" cy="4389120"/>
          </a:xfrm>
          <a:prstGeom prst="roundRect">
            <a:avLst>
              <a:gd name="adj" fmla="val 1875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65392" y="1938528"/>
            <a:ext cx="566928" cy="566928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116" y="2063252"/>
            <a:ext cx="317480" cy="317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96912" y="195681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7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VIABILIDADE DE ENGENHARIA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296912" y="21945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Norma Técnica — ABNT NBR 17153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6611112" y="3154680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processo de revisão estratégica (fev/2026), com base na IEC 61427-2.</a:t>
            </a:r>
            <a:endParaRPr lang="en-US" sz="12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requisitos rígidos de segurança e ensaio para baterias estacionárias conectadas à rede (on-grid).</a:t>
            </a:r>
            <a:endParaRPr lang="en-US" sz="1250" dirty="0"/>
          </a:p>
          <a:p>
            <a:pPr marL="152400" indent="-152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 o Brasil às melhores práticas globais de transição energética.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Lucas Silva Costa  ·  CREA-MT 029137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Fluxo de Receita: Geração Compartilhada na prática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121408" cy="3566160"/>
          </a:xfrm>
          <a:prstGeom prst="roundRect">
            <a:avLst>
              <a:gd name="adj" fmla="val 3448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2011680"/>
            <a:ext cx="530352" cy="530352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349" y="2128357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84248" y="19568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8E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04672" y="2743200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e armazenamento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3474720"/>
            <a:ext cx="16093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UFV + BESS maximizam a injeção diária na rede da distribuidora (ex.: Energisa-MT).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83764" y="3419856"/>
            <a:ext cx="192024" cy="201168"/>
          </a:xfrm>
          <a:prstGeom prst="chevron">
            <a:avLst/>
          </a:prstGeom>
          <a:solidFill>
            <a:srgbClr val="F2B705"/>
          </a:solidFill>
          <a:ln/>
        </p:spPr>
      </p:sp>
      <p:sp>
        <p:nvSpPr>
          <p:cNvPr id="10" name="Shape 7"/>
          <p:cNvSpPr/>
          <p:nvPr/>
        </p:nvSpPr>
        <p:spPr>
          <a:xfrm>
            <a:off x="2889504" y="1737360"/>
            <a:ext cx="2121408" cy="3566160"/>
          </a:xfrm>
          <a:prstGeom prst="roundRect">
            <a:avLst>
              <a:gd name="adj" fmla="val 3448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45536" y="2011680"/>
            <a:ext cx="530352" cy="530352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213" y="2128357"/>
            <a:ext cx="296997" cy="29699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25112" y="19568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8E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3145536" y="2743200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Conversão em créditos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145536" y="3474720"/>
            <a:ext cx="16093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energia injetada converte-se em créditos na proporção 1 kWh = 1 crédito (GD I).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4628" y="3419856"/>
            <a:ext cx="192024" cy="201168"/>
          </a:xfrm>
          <a:prstGeom prst="chevron">
            <a:avLst/>
          </a:prstGeom>
          <a:solidFill>
            <a:srgbClr val="F2B705"/>
          </a:solidFill>
          <a:ln/>
        </p:spPr>
      </p:sp>
      <p:sp>
        <p:nvSpPr>
          <p:cNvPr id="17" name="Shape 13"/>
          <p:cNvSpPr/>
          <p:nvPr/>
        </p:nvSpPr>
        <p:spPr>
          <a:xfrm>
            <a:off x="5230368" y="1737360"/>
            <a:ext cx="2121408" cy="3566160"/>
          </a:xfrm>
          <a:prstGeom prst="roundRect">
            <a:avLst>
              <a:gd name="adj" fmla="val 3448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0" y="2011680"/>
            <a:ext cx="530352" cy="530352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077" y="2128357"/>
            <a:ext cx="296997" cy="29699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65976" y="19568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8E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5486400" y="2743200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estrutura (SPE)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486400" y="3474720"/>
            <a:ext cx="16093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 aluga equipamentos e cotas para a entidade organizadora (consórcio ou cooperativa).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365492" y="3419856"/>
            <a:ext cx="192024" cy="201168"/>
          </a:xfrm>
          <a:prstGeom prst="chevron">
            <a:avLst/>
          </a:prstGeom>
          <a:solidFill>
            <a:srgbClr val="F2B705"/>
          </a:solidFill>
          <a:ln/>
        </p:spPr>
      </p:sp>
      <p:sp>
        <p:nvSpPr>
          <p:cNvPr id="24" name="Shape 19"/>
          <p:cNvSpPr/>
          <p:nvPr/>
        </p:nvSpPr>
        <p:spPr>
          <a:xfrm>
            <a:off x="7571232" y="1737360"/>
            <a:ext cx="2121408" cy="3566160"/>
          </a:xfrm>
          <a:prstGeom prst="roundRect">
            <a:avLst>
              <a:gd name="adj" fmla="val 3448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827264" y="2011680"/>
            <a:ext cx="530352" cy="530352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941" y="2128357"/>
            <a:ext cx="296997" cy="29699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006840" y="19568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8E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7827264" y="2743200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Monetização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7827264" y="3474720"/>
            <a:ext cx="16093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Produtores rurais e agroindústrias consorciados (Grupo B3) pagam o aluguel da cota com desconto atrativo (ex.: 27%).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706356" y="3419856"/>
            <a:ext cx="192024" cy="201168"/>
          </a:xfrm>
          <a:prstGeom prst="chevron">
            <a:avLst/>
          </a:prstGeom>
          <a:solidFill>
            <a:srgbClr val="F2B705"/>
          </a:solidFill>
          <a:ln/>
        </p:spPr>
      </p:sp>
      <p:sp>
        <p:nvSpPr>
          <p:cNvPr id="31" name="Shape 25"/>
          <p:cNvSpPr/>
          <p:nvPr/>
        </p:nvSpPr>
        <p:spPr>
          <a:xfrm>
            <a:off x="9912096" y="1737360"/>
            <a:ext cx="2121408" cy="3566160"/>
          </a:xfrm>
          <a:prstGeom prst="roundRect">
            <a:avLst>
              <a:gd name="adj" fmla="val 3448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10168128" y="2011680"/>
            <a:ext cx="530352" cy="530352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4805" y="2128357"/>
            <a:ext cx="296997" cy="29699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1347704" y="19568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8E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35" name="Text 28"/>
          <p:cNvSpPr/>
          <p:nvPr/>
        </p:nvSpPr>
        <p:spPr>
          <a:xfrm>
            <a:off x="10168128" y="2743200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Abatimento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10168128" y="3474720"/>
            <a:ext cx="16093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créditos abatem a fatura dos clientes na distribuidora e o capital retorna à SPE.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548640" y="56235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AF1F6"/>
          </a:solidFill>
          <a:ln/>
        </p:spPr>
      </p:sp>
      <p:sp>
        <p:nvSpPr>
          <p:cNvPr id="38" name="Text 31"/>
          <p:cNvSpPr/>
          <p:nvPr/>
        </p:nvSpPr>
        <p:spPr>
          <a:xfrm>
            <a:off x="777240" y="56235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virtuoso:  </a:t>
            </a:r>
            <a:pPr indent="0" marL="0">
              <a:buNone/>
            </a:pPr>
            <a:r>
              <a:rPr lang="en-US" sz="12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abatimento na fatura remunera a SPE, que reinveste na operação — fechando o circuito financeiro da Geração Compartilhada.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Lucas Silva Costa  ·  CREA-MT 029137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Raio-X do CAPEX: onde o capital é alocado?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1091672" cy="512064"/>
          </a:xfrm>
          <a:prstGeom prst="roundRect">
            <a:avLst>
              <a:gd name="adj" fmla="val 14286"/>
            </a:avLst>
          </a:prstGeom>
          <a:solidFill>
            <a:srgbClr val="EAF1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11556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de caso:  </a:t>
            </a:r>
            <a:pPr indent="0" marL="0">
              <a:buNone/>
            </a:pPr>
            <a:r>
              <a:rPr lang="en-US" sz="130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planta híbrida de 3,0 MW (UFV) + 1.446 kWh (BESS)  ·  investimento total de </a:t>
            </a:r>
            <a:pPr indent="0" marL="0">
              <a:buNone/>
            </a:pPr>
            <a:r>
              <a:rPr lang="en-US" sz="13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R$ 13,9 milhões</a:t>
            </a:r>
            <a:endParaRPr lang="en-US" sz="1300" dirty="0"/>
          </a:p>
        </p:txBody>
      </p:sp>
      <p:pic>
        <p:nvPicPr>
          <p:cNvPr id="5" name="Image 0" descr="chart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1083564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6053328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fotovoltaicos e EPC dominam o orçamento; o sistema de baterias representa 12,59% do capital — e é ele que destrava a arbitragem.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Lucas Silva Costa  ·  CREA-MT 029137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Janela de Oportunidade Tributária  |  estudo: Mato Grosso</a:t>
            </a:r>
            <a:endParaRPr lang="en-US" sz="3000" dirty="0"/>
          </a:p>
        </p:txBody>
      </p:sp>
      <p:pic>
        <p:nvPicPr>
          <p:cNvPr id="3" name="Image 0" descr="chart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694944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554480"/>
            <a:ext cx="3639312" cy="4480560"/>
          </a:xfrm>
          <a:prstGeom prst="roundRect">
            <a:avLst>
              <a:gd name="adj" fmla="val 2261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293608" y="1828800"/>
            <a:ext cx="548640" cy="54864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309" y="1949501"/>
            <a:ext cx="307238" cy="3072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93608" y="246888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tempo é a variável crítica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293608" y="2971800"/>
            <a:ext cx="305409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aderiu ao Convênio ICMS nº 16/2015 já em 2015: desde 2016, a energia compensada é isenta do ICMS (alíquota de 17%).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benefício é pleno até 2028, cai 20% ao ano a partir de 2029 e termina em 2033 — posicionar a UFV + BESS agora maximiza o caixa dos melhores anos.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 agro: ICMS zero em equipamentos de irrigação (Decreto nº 1.971/2026).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94360" y="61447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CONFAZ (Convênio ICMS nº 16/2015) · SEFAZ-MT · Decreto MT nº 1.971/2026.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Lucas Silva Costa  ·  CREA-MT 029137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Viabilidade do Sistema Híbrido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agro otimizado: irrigação bombeada no horário reservado do irrigante + crédito do Plano Safra  ·  tarifa B3 (Energisa-MT)  ·  TMA 15% a.a.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93592" cy="2377440"/>
          </a:xfrm>
          <a:prstGeom prst="roundRect">
            <a:avLst>
              <a:gd name="adj" fmla="val 3462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0136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7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28,00%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62432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 — Taxa Interna de Retorno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cenário base, 21%; as alavancas do agro elevam o retorno muito acima da renda fixa.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600200"/>
            <a:ext cx="3593592" cy="2377440"/>
          </a:xfrm>
          <a:prstGeom prst="roundRect">
            <a:avLst>
              <a:gd name="adj" fmla="val 3462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5152" y="180136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7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5 anos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645152" y="262432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descontado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45152" y="3017520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Recuperação do capital de R$ 13,9 milhões (cenário base, sem alavancas agro: 7 anos e 9 meses).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93024" y="1600200"/>
            <a:ext cx="3593592" cy="2377440"/>
          </a:xfrm>
          <a:prstGeom prst="roundRect">
            <a:avLst>
              <a:gd name="adj" fmla="val 3462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67344" y="180136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7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R$ 11,1 mi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467344" y="262432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VPL — Valor Presente Líquido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67344" y="3017520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de riqueza real projetada ao longo de 20 anos de operação.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9593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50" kern="0" dirty="0">
                <a:solidFill>
                  <a:srgbClr val="B7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DE ARBITRAGEM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3291840" cy="1600200"/>
          </a:xfrm>
          <a:prstGeom prst="roundRect">
            <a:avLst>
              <a:gd name="adj" fmla="val 5143"/>
            </a:avLst>
          </a:prstGeom>
          <a:solidFill>
            <a:srgbClr val="102A3C"/>
          </a:solidFill>
          <a:ln/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343400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(LCOE)</a:t>
            </a:r>
            <a:endParaRPr lang="en-US" sz="13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R$ 538,89 / MWh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41648" y="4800600"/>
            <a:ext cx="4114800" cy="685800"/>
          </a:xfrm>
          <a:prstGeom prst="rightArrow">
            <a:avLst/>
          </a:prstGeom>
          <a:solidFill>
            <a:srgbClr val="F2B705"/>
          </a:solidFill>
          <a:ln/>
        </p:spPr>
      </p:sp>
      <p:sp>
        <p:nvSpPr>
          <p:cNvPr id="20" name="Text 18"/>
          <p:cNvSpPr/>
          <p:nvPr/>
        </p:nvSpPr>
        <p:spPr>
          <a:xfrm>
            <a:off x="4041648" y="43251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LCOE da planta híbrida é substancialmente menor que a precificação da cota — o sistema é matematicamente autossustentável.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48472" y="4343400"/>
            <a:ext cx="3291840" cy="1600200"/>
          </a:xfrm>
          <a:prstGeom prst="roundRect">
            <a:avLst>
              <a:gd name="adj" fmla="val 5143"/>
            </a:avLst>
          </a:prstGeom>
          <a:solidFill>
            <a:srgbClr val="2E7DAF"/>
          </a:solidFill>
          <a:ln/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22792" y="4343400"/>
            <a:ext cx="274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(preço de venda da cota)</a:t>
            </a:r>
            <a:endParaRPr lang="en-US" sz="13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R$ 794,92 / MWh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Lucas Silva Costa  ·  CREA-MT 029137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Irrigação Bombeada: as alavancas do payback de ≈ 5 anos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93592" cy="3794760"/>
          </a:xfrm>
          <a:prstGeom prst="roundRect">
            <a:avLst>
              <a:gd name="adj" fmla="val 2290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41248" y="1737360"/>
            <a:ext cx="548640" cy="54864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949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423160"/>
            <a:ext cx="3008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Horário reservado do irrigante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41248" y="3127248"/>
            <a:ext cx="300837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Lei nº 10.438/2002 e a REN ANEEL nº 1.000/2021 garantem de 60% a 90% de desconto na tarifa entre 21h30 e 6h. O BESS concentra o bombeamento nessa janela e carrega barato para sustentar a operação na ponta.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70832" y="1463040"/>
            <a:ext cx="3593592" cy="3794760"/>
          </a:xfrm>
          <a:prstGeom prst="roundRect">
            <a:avLst>
              <a:gd name="adj" fmla="val 2290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737360"/>
            <a:ext cx="548640" cy="54864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141" y="185806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2423160"/>
            <a:ext cx="3008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rural do Plano Safra 2026/27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4663440" y="3127248"/>
            <a:ext cx="300837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 primeira vez, baterias são financiáveis no crédito rural (InvestAgro, Inovagro e Prodecoop), com juros de 8% a 12,5% a.a. — abaixo da TMA de 15%, acelerando o retorno sobre o capital próprio.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93024" y="1463040"/>
            <a:ext cx="3593592" cy="3794760"/>
          </a:xfrm>
          <a:prstGeom prst="roundRect">
            <a:avLst>
              <a:gd name="adj" fmla="val 2290"/>
            </a:avLst>
          </a:prstGeom>
          <a:solidFill>
            <a:srgbClr val="F5F8FA"/>
          </a:solidFill>
          <a:ln w="9525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85632" y="1737360"/>
            <a:ext cx="548640" cy="54864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3" y="185806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85632" y="2423160"/>
            <a:ext cx="3008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validado pelo mercado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8485632" y="3127248"/>
            <a:ext cx="300837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Integradores e estudos de mercado já reportam payback de 5 a 6 anos em geração distribuída com baterias — e de 3 a 7 anos em solar para irrigação, com casos de pivôs no Cerrado e no MATOPIBA.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548640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AF1F6"/>
          </a:solidFill>
          <a:ln/>
        </p:spPr>
      </p:sp>
      <p:sp>
        <p:nvSpPr>
          <p:cNvPr id="19" name="Text 14"/>
          <p:cNvSpPr/>
          <p:nvPr/>
        </p:nvSpPr>
        <p:spPr>
          <a:xfrm>
            <a:off x="777240" y="54864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do prêmio:  </a:t>
            </a:r>
            <a:pPr indent="0" marL="0">
              <a:buNone/>
            </a:pPr>
            <a:r>
              <a:rPr lang="en-US" sz="12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fazenda com 5 a 10 pivôs gasta de R$ 200 mil a R$ 800 mil por ano em energia — exatamente a conta que o BESS ataca.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14476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ANEEL (Lei nº 10.438/2002 · REN nº 1.000/2021) · Plano Safra 2026/27 (MAPA) · pv magazine Brasil · Canal Solar · Click Petróleo e Gás (jul/2025).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Lucas Silva Costa  ·  CREA-MT 029137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Trajetória de Recuperação do Capital  |  break-even</a:t>
            </a:r>
            <a:endParaRPr lang="en-US" sz="3000" dirty="0"/>
          </a:p>
        </p:txBody>
      </p:sp>
      <p:pic>
        <p:nvPicPr>
          <p:cNvPr id="3" name="Image 0" descr="chart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10835640" cy="4160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5760720"/>
            <a:ext cx="10835640" cy="566928"/>
          </a:xfrm>
          <a:prstGeom prst="roundRect">
            <a:avLst>
              <a:gd name="adj" fmla="val 12903"/>
            </a:avLst>
          </a:prstGeom>
          <a:solidFill>
            <a:srgbClr val="EAF1F6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576072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virada financeiro:  </a:t>
            </a:r>
            <a:pPr indent="0" marL="0">
              <a:buNone/>
            </a:pPr>
            <a:r>
              <a:rPr lang="en-US" sz="120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Ano 0 ocorre o desembolso total (CAPEX); com bombeamento no horário reservado do irrigante e crédito do Plano Safra, o capital retorna em cerca de 5 anos — um quarto da vida útil de 20 anos.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Lucas Silva Costa  ·  CREA-MT 029137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Fronteiras de Aplicação: quem realmente se beneficia do BESS?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40680" cy="4434840"/>
          </a:xfrm>
          <a:prstGeom prst="roundRect">
            <a:avLst>
              <a:gd name="adj" fmla="val 1856"/>
            </a:avLst>
          </a:prstGeom>
          <a:solidFill>
            <a:srgbClr val="F5F8FA"/>
          </a:solidFill>
          <a:ln w="19050">
            <a:solidFill>
              <a:srgbClr val="F2B705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8745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elegibilidade</a:t>
            </a:r>
            <a:endParaRPr lang="en-US" sz="2000" dirty="0"/>
          </a:p>
          <a:p>
            <a:pPr indent="0" marL="0">
              <a:buNone/>
            </a:pPr>
            <a:r>
              <a:rPr lang="en-US" sz="1150" i="1" dirty="0">
                <a:solidFill>
                  <a:srgbClr val="B7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de ouro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8680" y="2834640"/>
            <a:ext cx="530352" cy="530352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357" y="2951317"/>
            <a:ext cx="296997" cy="2969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770632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Agronegócio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redução de até 30% nos custos energéticos no campo, protegendo margens em operações rurais de fim de linha, com baixa qualidade de rede.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" y="4343400"/>
            <a:ext cx="530352" cy="530352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57" y="4460077"/>
            <a:ext cx="296997" cy="2969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4279392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Indústria no Mercado Livre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consumidores com demanda mínima acima de 500 kW e alta amplitude intradiária na carga: a sensibilidade tarifária maximiza a arbitragem.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45352" y="1600200"/>
            <a:ext cx="5440680" cy="4434840"/>
          </a:xfrm>
          <a:prstGeom prst="roundRect">
            <a:avLst>
              <a:gd name="adj" fmla="val 1856"/>
            </a:avLst>
          </a:prstGeom>
          <a:solidFill>
            <a:srgbClr val="F5F8FA"/>
          </a:solidFill>
          <a:ln w="12700">
            <a:solidFill>
              <a:srgbClr val="D9E2E8"/>
            </a:solidFill>
            <a:prstDash val="solid"/>
          </a:ln>
          <a:effectLst>
            <a:outerShdw sx="100000" sy="100000" kx="0" ky="0" algn="bl" rotWithShape="0" blurRad="88900" dist="25400" dir="5400000">
              <a:srgbClr val="9AAAB4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565392" y="18745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elegibilidade</a:t>
            </a:r>
            <a:endParaRPr lang="en-US" sz="2000" dirty="0"/>
          </a:p>
          <a:p>
            <a:pPr indent="0" marL="0">
              <a:buNone/>
            </a:pPr>
            <a:r>
              <a:rPr lang="en-US" sz="1150" i="1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Barreiras técnicas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565392" y="2834640"/>
            <a:ext cx="530352" cy="530352"/>
          </a:xfrm>
          <a:prstGeom prst="ellipse">
            <a:avLst/>
          </a:prstGeom>
          <a:solidFill>
            <a:srgbClr val="31485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2953512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51192" y="2770632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6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centers e cargas constantes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E4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 potencial de deslocamento temporal é nulo quando a carga é flat 24/7 (equipamentos críticos e climatização). Sem picos e vales acentuados, a bateria não encontra janela operacional econômica para arbitragem.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565392" y="516636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i="1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prática: quanto maior a amplitude entre pico e vale de consumo, maior o valor capturável pelo BESS.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Lucas Silva Costa  ·  CREA-MT 029137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Síntese: a matriz energética foi redesenhada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51560" y="169164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102A3C"/>
          </a:solidFill>
          <a:ln w="19050">
            <a:solidFill>
              <a:srgbClr val="3D56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91640"/>
            <a:ext cx="2834640" cy="12344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6D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Elétrons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6D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intermitentes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50792" y="2162556"/>
            <a:ext cx="457200" cy="292608"/>
          </a:xfrm>
          <a:prstGeom prst="rightArrow">
            <a:avLst/>
          </a:prstGeom>
          <a:solidFill>
            <a:srgbClr val="F2B705"/>
          </a:solidFill>
          <a:ln/>
        </p:spPr>
      </p:sp>
      <p:sp>
        <p:nvSpPr>
          <p:cNvPr id="6" name="Shape 4"/>
          <p:cNvSpPr/>
          <p:nvPr/>
        </p:nvSpPr>
        <p:spPr>
          <a:xfrm>
            <a:off x="4681728" y="169164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102A3C"/>
          </a:solidFill>
          <a:ln w="31750">
            <a:solidFill>
              <a:srgbClr val="F2B70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81728" y="1691640"/>
            <a:ext cx="2834640" cy="12344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de regulação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80960" y="2162556"/>
            <a:ext cx="457200" cy="292608"/>
          </a:xfrm>
          <a:prstGeom prst="rightArrow">
            <a:avLst/>
          </a:prstGeom>
          <a:solidFill>
            <a:srgbClr val="F2B705"/>
          </a:solidFill>
          <a:ln/>
        </p:spPr>
      </p:sp>
      <p:sp>
        <p:nvSpPr>
          <p:cNvPr id="9" name="Shape 7"/>
          <p:cNvSpPr/>
          <p:nvPr/>
        </p:nvSpPr>
        <p:spPr>
          <a:xfrm>
            <a:off x="8311896" y="169164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102A3C"/>
          </a:solidFill>
          <a:ln w="19050">
            <a:solidFill>
              <a:srgbClr val="3D56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11896" y="1691640"/>
            <a:ext cx="2834640" cy="12344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6D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financeiro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6D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previsível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3832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armazenamento de energia deixou de ser uma “promessa futurista” de estabilidade de rede. </a:t>
            </a:r>
            <a:pPr algn="ctr"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C6D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empilhar Peak Shaving, Time Shifting, anti-curtailment e Geração Compartilhada regulamentada, </a:t>
            </a:r>
            <a:pPr algn="ctr"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BESS é hoje uma máquina de arbitragem financeira validada.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48920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custos de CAPEX em declínio, LCOE competitivo (R$ 538/MWh), TIR de 21% a 28% e payback de ≈ 5 anos na irrigação bombeada, a transição para o BESS tornou-se o passo econômico mais lógico para o produtor rural, cooperativas e agroindústrias. O momento da vantagem competitiva e tributária é o presente.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Lucas Silva Costa  ·  CREA-MT 029137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1051560"/>
            <a:ext cx="3566160" cy="4023360"/>
          </a:xfrm>
          <a:prstGeom prst="roundRect">
            <a:avLst>
              <a:gd name="adj" fmla="val 3077"/>
            </a:avLst>
          </a:prstGeom>
          <a:ln w="31750">
            <a:solidFill>
              <a:srgbClr val="F2B7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1691640"/>
            <a:ext cx="3566160" cy="4023360"/>
          </a:xfrm>
          <a:prstGeom prst="roundRect">
            <a:avLst>
              <a:gd name="adj" fmla="val 3077"/>
            </a:avLst>
          </a:prstGeom>
          <a:ln w="31750">
            <a:solidFill>
              <a:srgbClr val="2E7D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98280" y="2788920"/>
            <a:ext cx="1554480" cy="15544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08" y="3127248"/>
            <a:ext cx="877824" cy="8778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9659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85800" y="3063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D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Eficiência energética no agronegócio — o papel estratégico do armazenamento de energia (BESS).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13232" y="3977640"/>
            <a:ext cx="2011680" cy="0"/>
          </a:xfrm>
          <a:prstGeom prst="line">
            <a:avLst/>
          </a:prstGeom>
          <a:noFill/>
          <a:ln w="12700">
            <a:solidFill>
              <a:srgbClr val="3D566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16052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Engenheiro Lucas Silva Costa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CREA-MT 029137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AA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Executivo de Viabilidade de Mercado · 2026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Lucas Silva Costa  ·  CREA-MT 029137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Sonare Engenharia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Eficiência Energética no Agro — A Revolução do Armazenamento (BESS)</dc:title>
  <dc:subject>PptxGenJS Presentation</dc:subject>
  <dc:creator>Eng. Lucas Silva Costa - CREA-MT 029137</dc:creator>
  <cp:lastModifiedBy>Eng. Lucas Silva Costa - CREA-MT 029137</cp:lastModifiedBy>
  <cp:revision>1</cp:revision>
  <dcterms:created xsi:type="dcterms:W3CDTF">2026-09-25T12:01:30Z</dcterms:created>
  <dcterms:modified xsi:type="dcterms:W3CDTF">2026-09-25T12:01:30Z</dcterms:modified>
</cp:coreProperties>
</file>