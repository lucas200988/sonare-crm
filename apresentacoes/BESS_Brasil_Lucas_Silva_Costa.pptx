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tema da exposição é eficiência energética no agro; o BESS é o instrumento que a viabiliza economicamente.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pilares da tese: regulação madura, novo papel econômico do ativo e números de viabilidade já comprovados.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descompasso: pico solar ao meio-dia versus pico de consumo no início da noite. O BESS faz a ponte temporal entre 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Ilustração conceitual: (1) UFV gera no pico solar; (2) BESS armazena o excedente; (3) descarga na ponta e no horário reservado aciona a irrigação bombeada, com a rede como via de créditos.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mecanismos complementares: Time Shifting ataca a tarifa de energia (kWh); Peak Shaving ataca a tarifa de demanda (kW). No agro: irrigação no vazio e amortecimento dos picos de motores.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stacking: o mesmo BESS soma arbitragem, peak shaving, anti-curtailment e créditos de GD. Nenhuma camada sozinha fecha a conta; empilhadas, comprimem o payback para ~5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Além das receitas, o BESS empilha serviços operacionais: backup (substitui diesel), qualidade de energia, postergação de reforços de rede e valor ESG com acesso a crédito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 14.300/2022 dá o modelo de negócio (Geração Compartilhada); a NBR 17153 dá a segurança técnica. Juntas, removem o risco regulatório.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as cinco etapas do modelo: geração, créditos, SPE, monetização com desconto e abatimento em fatura.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Composição do investimento de R$ 13,9 milhões. Destaque: BESS em azul (12,59%) e módulos FV em amarelo (27,5%).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MT: isenção de ICMS (17%) sobre energia compensada desde 2016; redução de 20% a.a. a partir de 2029 e fim em 2033. Bônus: ICMS zero em equipamentos de irrigação reduz o CAPEX do bombeamento.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Cenário agro otimizado: TIR 28%, payback ~5 anos, VPL R$ 11,1 mi (base: 21% / 7a9m / R$ 6,37 mi). Spread de ~R$ 256/MWh entre LCOE e preço da cota sustenta o modelo; o slide seguinte detalha as alavancas.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alavancas que levam o payback de 7a9m para ~5 anos: desconto noturno do irrigante (60-90%), crédito subsidiado do Plano Safra 2026/27 e benchmarks de mercado (5-6 anos em GD+BESS).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escuras: capital ainda não recuperado (anos 0 a 5). Barras azuis: VPL positivo do ano 6 em diante, encerrando em R$ 11,1 mi no cenário agro otimizado.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BESS não é para todos: agronegócio e indústria com carga volátil capturam valor; cargas flat como data centers,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conceitual: o BESS converte intermitência em previsibilidade financeira empilhando múltiplas fontes de valor. Chamada à ação: o momento é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encerramento com identificação do autor responsável.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 DE ENERGIA POR BATERIAS · BESS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" y="1325880"/>
            <a:ext cx="6949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 Energética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Agro: a Revolução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Armazenamento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85800" y="41148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Sistemas de Armazenamento de Energia por Baterias (BESS) transformam a energia do campo — da viabilidade técnica à máquina de arbitragem financeira.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13232" y="544068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7784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  ·  Relatório Executivo de Viabilidade de Mercado  · 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de Inflexão: por que investir em BESS agora?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Maturidade Regulatória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41248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deixa de ser um “limbo jurídico”. A evolução do Marco Legal (Lei nº 14.300/2022) e a revisão da ABNT NBR 17153 (prevista para fev/2026) estabelecem segurança jurídica e padronização para operação on-grid.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211" y="2053011"/>
            <a:ext cx="337962" cy="33796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Valor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4663440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transcende a função de backup: configura-se como ativo de arbitragem, capaz de mitigar o curtailment, faturar no horário de ponta e reduzir custos de demanda — do pivô de irrigação à agroindústria.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85632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403" y="2053011"/>
            <a:ext cx="337962" cy="33796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85632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Comprovada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8485632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robustos em projetos híbridos de Geração Compartilhada — modelo com vocação natural para o agro: TIR de até 28% e payback de aproximadamente 5 anos em operações com irrigação bombeada.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Desafio Físico: intermitência, restrição de injeção e curtailment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657600" cy="4434840"/>
          </a:xfrm>
          <a:prstGeom prst="roundRect">
            <a:avLst>
              <a:gd name="adj" fmla="val 225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72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desperdício à receita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41248" y="3200400"/>
            <a:ext cx="3072384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brasileira frequentemente não consegue escoar o pico de geração solar, e o Operador Nacional do Sistema (ONS) impõe o curtailment — o corte compulsório de geração.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absorve esse excedente do meio-dia e o converte em receita na ponta — exatamente quando irrigação, secagem e frio industrial mais pesam na conta do produtor.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434840" y="1600200"/>
            <a:ext cx="7205472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pic>
        <p:nvPicPr>
          <p:cNvPr id="9" name="Image 1" descr="chart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2057400"/>
            <a:ext cx="6766560" cy="35204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Conceito no Campo: como o Solar + BESS se conectam</a:t>
            </a:r>
            <a:endParaRPr lang="en-US" sz="3000" dirty="0"/>
          </a:p>
        </p:txBody>
      </p:sp>
      <p:pic>
        <p:nvPicPr>
          <p:cNvPr id="3" name="Image 0" descr="sce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70432"/>
            <a:ext cx="11091672" cy="39502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349240"/>
            <a:ext cx="402336" cy="40233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5349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78992" y="5294376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no pico solar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meio-dia, a UFV produz mais do que a fazenda consome — energia que a rede muitas vezes não consegue escoar.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4370832" y="5349240"/>
            <a:ext cx="402336" cy="40233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8" name="Text 5"/>
          <p:cNvSpPr/>
          <p:nvPr/>
        </p:nvSpPr>
        <p:spPr>
          <a:xfrm>
            <a:off x="4370832" y="5349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901184" y="5294376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 no BESS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bateria absorve o excedente (anti-curtailment) e carrega barato, inclusive no horário reservado do irrigante.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193024" y="5349240"/>
            <a:ext cx="402336" cy="40233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11" name="Text 8"/>
          <p:cNvSpPr/>
          <p:nvPr/>
        </p:nvSpPr>
        <p:spPr>
          <a:xfrm>
            <a:off x="8193024" y="5349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723376" y="5294376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Descarga inteligente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noite e na ponta, o BESS aciona bombas e pivôs sem tarifa alta — e a rede vira via de créditos, não de custo.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Mecanismos de Geração de Valor: a engenharia por trás do medidor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3931920"/>
          </a:xfrm>
          <a:prstGeom prst="roundRect">
            <a:avLst>
              <a:gd name="adj" fmla="val 2093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9280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020824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Shifting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Deslocamento temporal de energia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68680" y="283464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Arbitragem de tarifas intradiárias.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68680" y="365760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3730752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Energia — consumo em kWh.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68680" y="45537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626864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no vazio (baixo custo) e injetar ou consumir na ponta (alto custo).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45352" y="1600200"/>
            <a:ext cx="5440680" cy="3931920"/>
          </a:xfrm>
          <a:prstGeom prst="roundRect">
            <a:avLst>
              <a:gd name="adj" fmla="val 2093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65392" y="1892808"/>
            <a:ext cx="566928" cy="566928"/>
          </a:xfrm>
          <a:prstGeom prst="ellipse">
            <a:avLst/>
          </a:prstGeom>
          <a:solidFill>
            <a:srgbClr val="2E7DA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0824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96912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Shaving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Redução do pico de demanda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565392" y="283464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cirúrgico do custo de demanda contratada.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565392" y="365760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65392" y="3730752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Demanda — potência em kW.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565392" y="45537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65392" y="4626864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Descarregar a bateria somente quando o consumo ameaça ultrapassar a demanda contratada.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548640" y="574243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22" name="Text 18"/>
          <p:cNvSpPr/>
          <p:nvPr/>
        </p:nvSpPr>
        <p:spPr>
          <a:xfrm>
            <a:off x="777240" y="574243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agro:  </a:t>
            </a:r>
            <a:pPr indent="0" marL="0"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deslocar bombeamento e irrigação para o vazio (Time Shifting) e absorver os picos de motores, secadores e câmaras frias (Peak Shaving) — eficiência energética direto na margem.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Empilhamento de Receitas: um ativo, várias fontes de valor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5138928"/>
            <a:ext cx="4160520" cy="786384"/>
          </a:xfrm>
          <a:prstGeom prst="roundRect">
            <a:avLst>
              <a:gd name="adj" fmla="val 6977"/>
            </a:avLst>
          </a:prstGeom>
          <a:solidFill>
            <a:srgbClr val="31485A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86968" y="5138928"/>
            <a:ext cx="37581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Arbitragem tarifária (Time Shifting)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4233672"/>
            <a:ext cx="4160520" cy="786384"/>
          </a:xfrm>
          <a:prstGeom prst="roundRect">
            <a:avLst>
              <a:gd name="adj" fmla="val 6977"/>
            </a:avLst>
          </a:prstGeom>
          <a:solidFill>
            <a:srgbClr val="2E7DAF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4233672"/>
            <a:ext cx="37581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Shaving (demanda contratada)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3328416"/>
            <a:ext cx="4160520" cy="786384"/>
          </a:xfrm>
          <a:prstGeom prst="roundRect">
            <a:avLst>
              <a:gd name="adj" fmla="val 6977"/>
            </a:avLst>
          </a:prstGeom>
          <a:solidFill>
            <a:srgbClr val="7FB0CE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328416"/>
            <a:ext cx="37581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0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Anti-curtailment (excedente FV)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2423160"/>
            <a:ext cx="4160520" cy="786384"/>
          </a:xfrm>
          <a:prstGeom prst="roundRect">
            <a:avLst>
              <a:gd name="adj" fmla="val 6977"/>
            </a:avLst>
          </a:prstGeom>
          <a:solidFill>
            <a:srgbClr val="F2B705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968" y="2423160"/>
            <a:ext cx="37581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0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de GD / Geração Compartilhada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10912" y="2423160"/>
            <a:ext cx="384048" cy="3502152"/>
          </a:xfrm>
          <a:prstGeom prst="upArrow">
            <a:avLst/>
          </a:prstGeom>
          <a:solidFill>
            <a:srgbClr val="EAF1F6"/>
          </a:solidFill>
          <a:ln w="9525">
            <a:solidFill>
              <a:srgbClr val="D9E2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53619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ANUAL EMPILHADA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23560" y="1536192"/>
            <a:ext cx="5989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único ativo, quatro receitas simultâneas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623560" y="2139696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2B705"/>
          </a:solidFill>
          <a:ln/>
        </p:spPr>
      </p:sp>
      <p:sp>
        <p:nvSpPr>
          <p:cNvPr id="15" name="Text 13"/>
          <p:cNvSpPr/>
          <p:nvPr/>
        </p:nvSpPr>
        <p:spPr>
          <a:xfrm>
            <a:off x="6025896" y="2084832"/>
            <a:ext cx="5586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de GD / Geração Compartilhada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excedente injetado vira crédito na Energisa-MT e receita de cotas para a SPE.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23560" y="3108960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7FB0CE"/>
          </a:solidFill>
          <a:ln/>
        </p:spPr>
      </p:sp>
      <p:sp>
        <p:nvSpPr>
          <p:cNvPr id="17" name="Text 15"/>
          <p:cNvSpPr/>
          <p:nvPr/>
        </p:nvSpPr>
        <p:spPr>
          <a:xfrm>
            <a:off x="6025896" y="3054096"/>
            <a:ext cx="5586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Anti-curtailment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rede não escoa deixa de ser perda: o BESS captura o excedente solar do meio-dia.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23560" y="407822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2E7DAF"/>
          </a:solidFill>
          <a:ln/>
        </p:spPr>
      </p:sp>
      <p:sp>
        <p:nvSpPr>
          <p:cNvPr id="19" name="Text 17"/>
          <p:cNvSpPr/>
          <p:nvPr/>
        </p:nvSpPr>
        <p:spPr>
          <a:xfrm>
            <a:off x="6025896" y="4023360"/>
            <a:ext cx="5586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Shaving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dos picos de demanda: contrato de demanda menor e fim das multas de ultrapassagem.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23560" y="5047488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31485A"/>
          </a:solidFill>
          <a:ln/>
        </p:spPr>
      </p:sp>
      <p:sp>
        <p:nvSpPr>
          <p:cNvPr id="21" name="Text 19"/>
          <p:cNvSpPr/>
          <p:nvPr/>
        </p:nvSpPr>
        <p:spPr>
          <a:xfrm>
            <a:off x="6025896" y="4992624"/>
            <a:ext cx="5586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Arbitragem tarifária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do modelo: carregar no vazio (e no horário do irrigante) e usar na ponta cara.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998464"/>
            <a:ext cx="11091672" cy="420624"/>
          </a:xfrm>
          <a:prstGeom prst="roundRect">
            <a:avLst>
              <a:gd name="adj" fmla="val 17391"/>
            </a:avLst>
          </a:prstGeom>
          <a:solidFill>
            <a:srgbClr val="EAF1F6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998464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segredo do retorno:  </a:t>
            </a:r>
            <a:pPr indent="0" marL="0"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empilhamento — e não uma receita isolada — que comprime o payback para ≈ 5 anos e sustenta a TIR de até 28%.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Além da Receita: serviços que o BESS empilha na operação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2121408"/>
          </a:xfrm>
          <a:prstGeom prst="roundRect">
            <a:avLst>
              <a:gd name="adj" fmla="val 3879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828800"/>
            <a:ext cx="512064" cy="51206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02" y="1941454"/>
            <a:ext cx="286756" cy="2867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1051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e resiliência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41248" y="2487168"/>
            <a:ext cx="48554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 o gerador a diesel: irrigação, ordenha e frio seguem operando nas quedas de rede — rotina nas linhas rurais de fim de rede.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45352" y="1554480"/>
            <a:ext cx="5440680" cy="2121408"/>
          </a:xfrm>
          <a:prstGeom prst="roundRect">
            <a:avLst>
              <a:gd name="adj" fmla="val 3879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828800"/>
            <a:ext cx="512064" cy="51206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0614" y="1941454"/>
            <a:ext cx="286756" cy="2867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05472" y="181051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de energia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6537960" y="2487168"/>
            <a:ext cx="48554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Estabiliza tensão e frequência em redes rurais fracas, protegendo motores, bombas e inversores contra afundamentos e surtos.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904488"/>
            <a:ext cx="5440680" cy="2121408"/>
          </a:xfrm>
          <a:prstGeom prst="roundRect">
            <a:avLst>
              <a:gd name="adj" fmla="val 3879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1248" y="4178808"/>
            <a:ext cx="512064" cy="51206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02" y="4291462"/>
            <a:ext cx="286756" cy="2867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416052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Crescer sem esperar a rede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841248" y="4837176"/>
            <a:ext cx="48554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Alivia o ramal e posterga reforços de rede e aumento de demanda: novos pivôs e cargas entram sem depender de obra da distribuidora.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245352" y="3904488"/>
            <a:ext cx="5440680" cy="2121408"/>
          </a:xfrm>
          <a:prstGeom prst="roundRect">
            <a:avLst>
              <a:gd name="adj" fmla="val 3879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537960" y="4178808"/>
            <a:ext cx="512064" cy="51206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614" y="4291462"/>
            <a:ext cx="286756" cy="2867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205472" y="416052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 ESG e acesso a crédito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6537960" y="4837176"/>
            <a:ext cx="48554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limpa e firme: lastro para certificações, metas de descarbonização e crédito verde (Plano Safra / RenovAgro).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serviço empilhado reduz risco operacional — valor que não aparece no fluxo de caixa, mas aparece na safra.</a:t>
            </a:r>
            <a:endParaRPr lang="en-US" sz="1150" dirty="0"/>
          </a:p>
        </p:txBody>
      </p:sp>
      <p:sp>
        <p:nvSpPr>
          <p:cNvPr id="25" name="Text 18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6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Alicerce Regulatório: padronização e legalidade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instrumentos sustentam a confiança do mercado — um viabiliza o negócio, o outro viabiliza a engenharia.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404" y="2063252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NEGÓCIOS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600200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Marco Legal — Lei nº 14.300/2022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4400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Instituiu a Geração Compartilhada no âmbito da Geração Distribuída.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a união de interessados via consórcio, cooperativa ou associação — arranjo natural para cooperativas e associações de produtores rurais — para compartilhar créditos de uma UFV de até 3 MW.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atua como otimizador dessa injeção, maximizando o valor de cada crédito gerado.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45352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65392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116" y="2063252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96912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ENGENHARIA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296912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 Técnica — ABNT NBR 17153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6611112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processo de revisão estratégica (fev/2026), com base na IEC 61427-2.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requisitos rígidos de segurança e ensaio para baterias estacionárias conectadas à rede (on-grid).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 o Brasil às melhores práticas globais de transição energética.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de Receita: Geração Compartilhada na prática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349" y="2128357"/>
            <a:ext cx="296997" cy="2969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84248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04672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e armazenamento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UFV + BESS maximizam a injeção diária na rede da distribuidora (ex.: Energisa-MT).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83764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0" name="Shape 7"/>
          <p:cNvSpPr/>
          <p:nvPr/>
        </p:nvSpPr>
        <p:spPr>
          <a:xfrm>
            <a:off x="2889504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45536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2213" y="2128357"/>
            <a:ext cx="296997" cy="29699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25112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3145536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em créditos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145536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energia injetada converte-se em créditos na proporção 1 kWh = 1 crédito (GD I).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24628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7" name="Shape 13"/>
          <p:cNvSpPr/>
          <p:nvPr/>
        </p:nvSpPr>
        <p:spPr>
          <a:xfrm>
            <a:off x="5230368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86400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2128357"/>
            <a:ext cx="296997" cy="29699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665976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5486400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estrutura (SPE)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486400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 aluga equipamentos e cotas para a entidade organizadora (consórcio ou cooperativa).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365492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24" name="Shape 19"/>
          <p:cNvSpPr/>
          <p:nvPr/>
        </p:nvSpPr>
        <p:spPr>
          <a:xfrm>
            <a:off x="7571232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827264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941" y="2128357"/>
            <a:ext cx="296997" cy="29699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006840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8" name="Text 22"/>
          <p:cNvSpPr/>
          <p:nvPr/>
        </p:nvSpPr>
        <p:spPr>
          <a:xfrm>
            <a:off x="7827264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Monetização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7827264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 rurais e agroindústrias consorciados (Grupo B3) pagam o aluguel da cota com desconto atrativo (ex.: 27%).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706356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31" name="Shape 25"/>
          <p:cNvSpPr/>
          <p:nvPr/>
        </p:nvSpPr>
        <p:spPr>
          <a:xfrm>
            <a:off x="9912096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10168128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4805" y="2128357"/>
            <a:ext cx="296997" cy="29699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1347704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35" name="Text 28"/>
          <p:cNvSpPr/>
          <p:nvPr/>
        </p:nvSpPr>
        <p:spPr>
          <a:xfrm>
            <a:off x="10168128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Abatimento</a:t>
            </a:r>
            <a:endParaRPr lang="en-US" sz="1350" dirty="0"/>
          </a:p>
        </p:txBody>
      </p:sp>
      <p:sp>
        <p:nvSpPr>
          <p:cNvPr id="36" name="Text 29"/>
          <p:cNvSpPr/>
          <p:nvPr/>
        </p:nvSpPr>
        <p:spPr>
          <a:xfrm>
            <a:off x="10168128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abatem a fatura dos clientes na distribuidora e o capital retorna à SPE.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38" name="Text 31"/>
          <p:cNvSpPr/>
          <p:nvPr/>
        </p:nvSpPr>
        <p:spPr>
          <a:xfrm>
            <a:off x="77724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virtuoso:  </a:t>
            </a:r>
            <a:pPr indent="0" marL="0"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abatimento na fatura remunera a SPE, que reinveste na operação — fechando o circuito financeiro da Geração Compartilhada.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41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Raio-X do CAPEX: onde o capital é alocado?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1091672" cy="512064"/>
          </a:xfrm>
          <a:prstGeom prst="roundRect">
            <a:avLst>
              <a:gd name="adj" fmla="val 14286"/>
            </a:avLst>
          </a:prstGeom>
          <a:solidFill>
            <a:srgbClr val="EAF1F6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15568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de caso:  </a:t>
            </a:r>
            <a:pPr indent="0" marL="0">
              <a:buNone/>
            </a:pPr>
            <a:r>
              <a:rPr lang="en-US" sz="13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híbrida de 3,0 MW (UFV) + 1.446 kWh (BESS)  ·  investimento total de </a:t>
            </a:r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R$ 13,9 milhões</a:t>
            </a:r>
            <a:endParaRPr lang="en-US" sz="1300" dirty="0"/>
          </a:p>
        </p:txBody>
      </p:sp>
      <p:pic>
        <p:nvPicPr>
          <p:cNvPr id="5" name="Image 0" descr="chart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4520"/>
            <a:ext cx="1083564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53328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fotovoltaicos e EPC dominam o orçamento; o sistema de baterias representa 12,59% do capital — e é ele que destrava a arbitragem.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Janela de Oportunidade Tributária  |  estudo: Mato Grosso</a:t>
            </a:r>
            <a:endParaRPr lang="en-US" sz="3000" dirty="0"/>
          </a:p>
        </p:txBody>
      </p:sp>
      <p:pic>
        <p:nvPicPr>
          <p:cNvPr id="3" name="Image 0" descr="chart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694944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01000" y="1554480"/>
            <a:ext cx="3639312" cy="4480560"/>
          </a:xfrm>
          <a:prstGeom prst="roundRect">
            <a:avLst>
              <a:gd name="adj" fmla="val 2261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293608" y="182880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4309" y="1949501"/>
            <a:ext cx="307238" cy="3072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93608" y="246888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tempo é a variável crítica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8293608" y="2971800"/>
            <a:ext cx="30540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 aderiu ao Convênio ICMS nº 16/2015 já em 2015: desde 2016, a energia compensada é isenta do ICMS (alíquota de 17%).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benefício é pleno até 2028, cai 20% ao ano a partir de 2029 e termina em 2033 — posicionar a UFV + BESS agora maximiza o caixa dos melhores anos.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Bônus agro: ICMS zero em equipamentos de irrigação (Decreto nº 1.971/2026).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94360" y="614476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CONFAZ (Convênio ICMS nº 16/2015) · SEFAZ-MT · Decreto MT nº 1.971/2026.</a:t>
            </a:r>
            <a:endParaRPr lang="en-US" sz="8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 Viabilidade do Sistema Híbrido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agro otimizado: irrigação bombeada no horário reservado do irrigante + crédito do Plano Safra  ·  tarifa B3 (Energisa-MT)  ·  TMA 15% a.a.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28,00%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 — Taxa Interna de Retorno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cenário base, 21%; as alavancas do agro elevam o retorno muito acima da renda fixa.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45152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5 anos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45152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descontado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45152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do capital de R$ 13,9 milhões (cenário base, sem alavancas agro: 7 anos e 9 meses).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93024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7344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R$ 11,1 mi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467344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VPL — Valor Presente Líquido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67344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de riqueza real projetada ao longo de 20 anos de operação.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9593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ARBITRAGEM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102A3C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(LCOE)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R$ 538,89 / MWh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41648" y="4800600"/>
            <a:ext cx="4114800" cy="685800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20" name="Text 18"/>
          <p:cNvSpPr/>
          <p:nvPr/>
        </p:nvSpPr>
        <p:spPr>
          <a:xfrm>
            <a:off x="4041648" y="43251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LCOE da planta híbrida é substancialmente menor que a precificação da cota — o sistema é matematicamente autossustentável.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48472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2E7DAF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22792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(preço de venda da cota)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R$ 794,92 / MWh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Irrigação Bombeada: as alavancas do payback de ≈ 5 anos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93592" cy="379476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73736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9" y="18580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423160"/>
            <a:ext cx="3008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Horário reservado do irrigante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841248" y="3127248"/>
            <a:ext cx="30083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Lei nº 10.438/2002 e a REN ANEEL nº 1.000/2021 garantem de 60% a 90% de desconto na tarifa entre 21h30 e 6h. O BESS concentra o bombeamento nessa janela e carrega barato para sustentar a operação na ponta.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70832" y="1463040"/>
            <a:ext cx="3593592" cy="379476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73736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141" y="185806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2423160"/>
            <a:ext cx="3008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rural do Plano Safra 2026/27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4663440" y="3127248"/>
            <a:ext cx="30083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 primeira vez, baterias são financiáveis no crédito rural (InvestAgro, Inovagro e Prodecoop), com juros de 8% a 12,5% a.a. — abaixo da TMA de 15%, acelerando o retorno sobre o capital próprio.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193024" y="1463040"/>
            <a:ext cx="3593592" cy="379476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85632" y="173736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333" y="185806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85632" y="2423160"/>
            <a:ext cx="3008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validado pelo mercado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8485632" y="3127248"/>
            <a:ext cx="30083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Integradores e estudos de mercado já reportam payback de 5 a 6 anos em geração distribuída com baterias — e de 3 a 7 anos em solar para irrigação, com casos de pivôs no Cerrado e no MATOPIBA.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548640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19" name="Text 14"/>
          <p:cNvSpPr/>
          <p:nvPr/>
        </p:nvSpPr>
        <p:spPr>
          <a:xfrm>
            <a:off x="777240" y="54864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do prêmio:  </a:t>
            </a:r>
            <a:pPr indent="0" marL="0"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fazenda com 5 a 10 pivôs gasta de R$ 200 mil a R$ 800 mil por ano em energia — exatamente a conta que o BESS ataca.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48640" y="6144768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ANEEL (Lei nº 10.438/2002 · REN nº 1.000/2021) · Plano Safra 2026/27 (MAPA) · pv magazine Brasil · Canal Solar · Click Petróleo e Gás (jul/2025).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3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Trajetória de Recuperação do Capital  |  break-even</a:t>
            </a:r>
            <a:endParaRPr lang="en-US" sz="3000" dirty="0"/>
          </a:p>
        </p:txBody>
      </p:sp>
      <p:pic>
        <p:nvPicPr>
          <p:cNvPr id="3" name="Image 0" descr="chart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1083564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5760720"/>
            <a:ext cx="10835640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5760720"/>
            <a:ext cx="10378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virada financeiro:  </a:t>
            </a:r>
            <a:pPr indent="0" marL="0"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 0 ocorre o desembolso total (CAPEX); com bombeamento no horário reservado do irrigante e crédito do Plano Safra, o capital retorna em cerca de 5 anos — um quarto da vida útil de 20 anos.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Fronteiras de Aplicação: quem realmente se beneficia do BESS?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9050">
            <a:solidFill>
              <a:srgbClr val="F2B705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de ouro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283464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357" y="2951317"/>
            <a:ext cx="296997" cy="29699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770632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Agronegócio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redução de até 30% nos custos energéticos no campo, protegendo margens em operações rurais de fim de linha, com baixa qualidade de rede.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8680" y="434340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57" y="4460077"/>
            <a:ext cx="296997" cy="296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4279392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Indústria no Mercado Livre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consumidores com demanda mínima acima de 500 kW e alta amplitude intradiária na carga: a sensibilidade tarifária maximiza a arbitragem.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245352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2700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565392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Barreiras técnicas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565392" y="2834640"/>
            <a:ext cx="530352" cy="530352"/>
          </a:xfrm>
          <a:prstGeom prst="ellipse">
            <a:avLst/>
          </a:prstGeom>
          <a:solidFill>
            <a:srgbClr val="31485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953512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251192" y="2770632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 e cargas constantes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 potencial de deslocamento temporal é nulo quando a carga é flat 24/7 (equipamentos críticos e climatização). Sem picos e vales acentuados, a bateria não encontra janela operacional econômica para arbitragem.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565392" y="5166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prática: quanto maior a amplitude entre pico e vale de consumo, maior o valor capturável pelo BESS.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9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Síntese: a matriz energética foi redesenhada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1560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Elétrons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intermitentes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050792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6" name="Shape 4"/>
          <p:cNvSpPr/>
          <p:nvPr/>
        </p:nvSpPr>
        <p:spPr>
          <a:xfrm>
            <a:off x="4681728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31750">
            <a:solidFill>
              <a:srgbClr val="F2B70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81728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regulação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80960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9" name="Shape 7"/>
          <p:cNvSpPr/>
          <p:nvPr/>
        </p:nvSpPr>
        <p:spPr>
          <a:xfrm>
            <a:off x="8311896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11896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financeiro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previsível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3832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 energia deixou de ser uma “promessa futurista” de estabilidade de rede. 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empilhar Peak Shaving, Time Shifting, anti-curtailment e Geração Compartilhada regulamentada, </a:t>
            </a:r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é hoje uma máquina de arbitragem financeira validada.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37360" y="4892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custos de CAPEX em declínio, LCOE competitivo (R$ 538/MWh), TIR de 21% a 28% e payback de ≈ 5 anos na irrigação bombeada, a transição para o BESS tornou-se o passo econômico mais lógico para o produtor rural, cooperativas e agroindústrias. O momento da vantagem competitiva e tributária é o presente.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9659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685800" y="30632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 energética no agronegócio — o papel estratégico do armazenamento de energia (BESS).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13232" y="397764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1605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Engenheiro Lucas Silva Costa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de Viabilidade de Mercado · 2026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Sonare Engenharia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Eficiência Energética no Agro — A Revolução do Armazenamento (BESS)</dc:title>
  <dc:subject>PptxGenJS Presentation</dc:subject>
  <dc:creator>Eng. Lucas Silva Costa - CREA-MT 029137</dc:creator>
  <cp:lastModifiedBy>Eng. Lucas Silva Costa - CREA-MT 029137</cp:lastModifiedBy>
  <cp:revision>1</cp:revision>
  <dcterms:created xsi:type="dcterms:W3CDTF">2026-09-25T11:52:08Z</dcterms:created>
  <dcterms:modified xsi:type="dcterms:W3CDTF">2026-09-25T11:52:08Z</dcterms:modified>
</cp:coreProperties>
</file>