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6303F"/>
                </a:solidFill>
                <a:latin typeface="Arial"/>
              </a:defRPr>
            </a:pPr>
            <a:r>
              <a:rPr sz="1250" b="1" i="0" u="none" strike="noStrike">
                <a:solidFill>
                  <a:srgbClr val="16303F"/>
                </a:solidFill>
                <a:latin typeface="Arial"/>
              </a:rPr>
              <a:t>Excedente solar do meio-dia  →  descarga estratégica na ponta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Geração fotovoltaica (MW)</c:v>
                </c:pt>
              </c:strCache>
            </c:strRef>
          </c:tx>
          <c:spPr>
            <a:solidFill>
              <a:srgbClr val="F2B705"/>
            </a:solidFill>
            <a:ln w="38100" cap="flat">
              <a:solidFill>
                <a:srgbClr val="F2B70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B705"/>
              </a:solidFill>
              <a:ln w="9525" cap="flat">
                <a:solidFill>
                  <a:srgbClr val="F2B70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</c:v>
                </c:pt>
                <c:pt idx="6">
                  <c:v>0.6</c:v>
                </c:pt>
                <c:pt idx="7">
                  <c:v>1.6</c:v>
                </c:pt>
                <c:pt idx="8">
                  <c:v>2.9</c:v>
                </c:pt>
                <c:pt idx="9">
                  <c:v>4.1</c:v>
                </c:pt>
                <c:pt idx="10">
                  <c:v>5</c:v>
                </c:pt>
                <c:pt idx="11">
                  <c:v>5.5</c:v>
                </c:pt>
                <c:pt idx="12">
                  <c:v>5.6</c:v>
                </c:pt>
                <c:pt idx="13">
                  <c:v>5.3</c:v>
                </c:pt>
                <c:pt idx="14">
                  <c:v>4.6</c:v>
                </c:pt>
                <c:pt idx="15">
                  <c:v>3.5</c:v>
                </c:pt>
                <c:pt idx="16">
                  <c:v>2.2</c:v>
                </c:pt>
                <c:pt idx="17">
                  <c:v>1</c:v>
                </c:pt>
                <c:pt idx="18">
                  <c:v>0.3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Curva de carga (MW)</c:v>
                </c:pt>
              </c:strCache>
            </c:strRef>
          </c:tx>
          <c:spPr>
            <a:solidFill>
              <a:srgbClr val="31485A"/>
            </a:solidFill>
            <a:ln w="38100" cap="flat">
              <a:solidFill>
                <a:srgbClr val="3148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1485A"/>
              </a:solidFill>
              <a:ln w="9525" cap="flat">
                <a:solidFill>
                  <a:srgbClr val="3148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2.8</c:v>
                </c:pt>
                <c:pt idx="1">
                  <c:v>2.6</c:v>
                </c:pt>
                <c:pt idx="2">
                  <c:v>2.5</c:v>
                </c:pt>
                <c:pt idx="3">
                  <c:v>2.4</c:v>
                </c:pt>
                <c:pt idx="4">
                  <c:v>2.4</c:v>
                </c:pt>
                <c:pt idx="5">
                  <c:v>2.5</c:v>
                </c:pt>
                <c:pt idx="6">
                  <c:v>2.8</c:v>
                </c:pt>
                <c:pt idx="7">
                  <c:v>3.2</c:v>
                </c:pt>
                <c:pt idx="8">
                  <c:v>3.4</c:v>
                </c:pt>
                <c:pt idx="9">
                  <c:v>3.3</c:v>
                </c:pt>
                <c:pt idx="10">
                  <c:v>3.2</c:v>
                </c:pt>
                <c:pt idx="11">
                  <c:v>3.1</c:v>
                </c:pt>
                <c:pt idx="12">
                  <c:v>3</c:v>
                </c:pt>
                <c:pt idx="13">
                  <c:v>3.1</c:v>
                </c:pt>
                <c:pt idx="14">
                  <c:v>3.2</c:v>
                </c:pt>
                <c:pt idx="15">
                  <c:v>3.4</c:v>
                </c:pt>
                <c:pt idx="16">
                  <c:v>3.8</c:v>
                </c:pt>
                <c:pt idx="17">
                  <c:v>4.4</c:v>
                </c:pt>
                <c:pt idx="18">
                  <c:v>5</c:v>
                </c:pt>
                <c:pt idx="19">
                  <c:v>5.4</c:v>
                </c:pt>
                <c:pt idx="20">
                  <c:v>5.2</c:v>
                </c:pt>
                <c:pt idx="21">
                  <c:v>4.6</c:v>
                </c:pt>
                <c:pt idx="22">
                  <c:v>3.8</c:v>
                </c:pt>
                <c:pt idx="23">
                  <c:v>3.2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E4E59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Participação no CAPEX</c:v>
                </c:pt>
              </c:strCache>
            </c:strRef>
          </c:tx>
          <c:spPr>
            <a:solidFill>
              <a:srgbClr val="3148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7DA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Custos de obra e engenharia — 2,92%</c:v>
                  </c:pt>
                  <c:pt idx="1">
                    <c:v>Inversores — 3,46%</c:v>
                  </c:pt>
                  <c:pt idx="2">
                    <c:v>Serviços administrativos — 3,97%</c:v>
                  </c:pt>
                  <c:pt idx="3">
                    <c:v>Obras civis — 7,72%</c:v>
                  </c:pt>
                  <c:pt idx="4">
                    <c:v>Sistema BESS completo — 12,59%</c:v>
                  </c:pt>
                  <c:pt idx="5">
                    <c:v>Materiais elétricos — 12,99%</c:v>
                  </c:pt>
                  <c:pt idx="6">
                    <c:v>Estruturas metálicas — 13,45%</c:v>
                  </c:pt>
                  <c:pt idx="7">
                    <c:v>EPC, construção e instalação — 15,40%</c:v>
                  </c:pt>
                  <c:pt idx="8">
                    <c:v>Módulos fotovoltaicos — 27,50%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2.92</c:v>
                </c:pt>
                <c:pt idx="1">
                  <c:v>3.46</c:v>
                </c:pt>
                <c:pt idx="2">
                  <c:v>3.97</c:v>
                </c:pt>
                <c:pt idx="3">
                  <c:v>7.72</c:v>
                </c:pt>
                <c:pt idx="4">
                  <c:v>12.59</c:v>
                </c:pt>
                <c:pt idx="5">
                  <c:v>12.99</c:v>
                </c:pt>
                <c:pt idx="6">
                  <c:v>13.45</c:v>
                </c:pt>
                <c:pt idx="7">
                  <c:v>15.4</c:v>
                </c:pt>
                <c:pt idx="8">
                  <c:v>27.5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E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6303F"/>
                </a:solidFill>
                <a:latin typeface="Arial"/>
              </a:defRPr>
            </a:pPr>
            <a:r>
              <a:rPr sz="1250" b="1" i="0" u="none" strike="noStrike">
                <a:solidFill>
                  <a:srgbClr val="16303F"/>
                </a:solidFill>
                <a:latin typeface="Arial"/>
              </a:rPr>
              <a:t>Isenção de ICMS sobre energia compensada — trajetória de retomada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Isenção de ICMS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630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2028</c:v>
                  </c:pt>
                  <c:pt idx="1">
                    <c:v>2029</c:v>
                  </c:pt>
                  <c:pt idx="2">
                    <c:v>2030</c:v>
                  </c:pt>
                  <c:pt idx="3">
                    <c:v>2031</c:v>
                  </c:pt>
                  <c:pt idx="4">
                    <c:v>2032</c:v>
                  </c:pt>
                  <c:pt idx="5">
                    <c:v>2033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  <c:pt idx="3">
                  <c:v>40</c:v>
                </c:pt>
                <c:pt idx="4">
                  <c:v>20</c:v>
                </c:pt>
                <c:pt idx="5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630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E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6303F"/>
                </a:solidFill>
                <a:latin typeface="Arial"/>
              </a:defRPr>
            </a:pPr>
            <a:r>
              <a:rPr sz="1250" b="1" i="0" u="none" strike="noStrike">
                <a:solidFill>
                  <a:srgbClr val="16303F"/>
                </a:solidFill>
                <a:latin typeface="Arial"/>
              </a:rPr>
              <a:t>Evolução do VPL acumulado por ano de projeto (R$ milhões)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Fase de investimento</c:v>
                </c:pt>
              </c:strCache>
            </c:strRef>
          </c:tx>
          <c:spPr>
            <a:solidFill>
              <a:srgbClr val="3148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-13.9</c:v>
                </c:pt>
                <c:pt idx="1">
                  <c:v>-12.4</c:v>
                </c:pt>
                <c:pt idx="2">
                  <c:v>-10.9</c:v>
                </c:pt>
                <c:pt idx="3">
                  <c:v>-9.5</c:v>
                </c:pt>
                <c:pt idx="4">
                  <c:v>-8.1</c:v>
                </c:pt>
                <c:pt idx="5">
                  <c:v>-6.7</c:v>
                </c:pt>
                <c:pt idx="6">
                  <c:v>-5.3</c:v>
                </c:pt>
                <c:pt idx="7">
                  <c:v>-3.9</c:v>
                </c:pt>
                <c:pt idx="8">
                  <c:v>-1.9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Fase de retorno</c:v>
                </c:pt>
              </c:strCache>
            </c:strRef>
          </c:tx>
          <c:spPr>
            <a:solidFill>
              <a:srgbClr val="2E7D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0.4</c:v>
                </c:pt>
                <c:pt idx="10">
                  <c:v>1</c:v>
                </c:pt>
                <c:pt idx="11">
                  <c:v>1.7</c:v>
                </c:pt>
                <c:pt idx="12">
                  <c:v>2.3</c:v>
                </c:pt>
                <c:pt idx="13">
                  <c:v>2.9</c:v>
                </c:pt>
                <c:pt idx="14">
                  <c:v>3.5</c:v>
                </c:pt>
                <c:pt idx="15">
                  <c:v>4.1</c:v>
                </c:pt>
                <c:pt idx="16">
                  <c:v>4.7</c:v>
                </c:pt>
                <c:pt idx="17">
                  <c:v>5.2</c:v>
                </c:pt>
                <c:pt idx="18">
                  <c:v>5.7</c:v>
                </c:pt>
                <c:pt idx="19">
                  <c:v>6.1</c:v>
                </c:pt>
                <c:pt idx="20">
                  <c:v>6.37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&quot;R$ &quot;#,##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E4E59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contextualizar a transição do BESS de tema técnico para tese de investimento consolidada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pilares da tese: regulação madura, novo papel econômico do ativo e números de viabilidade já comprovados.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descompasso: pico solar ao meio-dia versus pico de consumo no início da noite. O BESS faz a ponte temporal entre 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mecanismos complementares: Time Shifting ataca a tarifa de energia (kWh); Peak Shaving ataca a tarifa de demanda (kW).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14.300/2022 dá o modelo de negócio (Geração Compartilhada); a NBR 17153 dá a segurança técnica. Juntas, removem o risco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cinco etapas do modelo: geração, créditos, SPE, monetização com desconto e abatimento em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do investimento de R$ 13,9 milhões. Destaque: BESS em azul (12,59%) e módulos FV em amarelo (27,5%).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isenção de ICMS decresce 20 p.p. ao ano a partir de 2029. Entrar cedo captura os anos de maior geração de 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Tríade de indicadores: TIR 21%, payback 7a9m, VPL R$ 6,37 mi. Spread de ~R$ 256/MWh entre LCOE e preço da cota sustenta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escuras: capital ainda não recuperado (anos 0 a 8). Barras azuis: VPL positivo do ano 9 em diante, encerrando em R$ 6,37 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BESS não é para todos: agronegócio e indústria com carga volátil capturam valor; cargas flat como data centers,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conceitual: o BESS converte intermitência em previsibilidade financeira. Chamada à ação: o momento é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encerramento com identificação do autor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13258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Revolução do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no Brasil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85800" y="4114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viabilidade técnica à máquina de arbitragem financeira: o panorama estratégico dos Sistemas de Armazenamento de Energia por Baterias (BESS).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13232" y="544068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77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  · 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Inflexão: por que investir em BESS agora?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Regulatória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41248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deixa de ser um “limbo jurídico”. A evolução do Marco Legal (Lei nº 14.300/2022) e a revisão da ABNT NBR 17153 (prevista para fev/2026) estabelecem segurança jurídica e padronização para operação on-grid.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11" y="2053011"/>
            <a:ext cx="337962" cy="33796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Valor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63440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transcende a função de backup: configura-se como ativo de arbitragem, capaz de mitigar o curtailment, faturar no horário de ponta e reduzir custos de demanda de grandes consumidores.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403" y="2053011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Comprovada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485632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robustos em projetos híbridos de Geração Compartilhada: TIR superior a 21% e payback inferior a 8 anos superam o custo de oportunidade do capital no Brasil.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 Físico: intermitência, restrição de injeção e curtailment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desperdício à receita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41248" y="3200400"/>
            <a:ext cx="30723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brasileira frequentemente não consegue escoar o pico de geração solar, e o Operador Nacional do Sistema (ONS) impõe o curtailment — o corte compulsório de geração.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absorve esse excedente do meio-dia e o converte em receita no horário de ponta, transformando desperdício em resultado financeiro.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7205472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graphicFrame>
        <p:nvGraphicFramePr>
          <p:cNvPr id="9" name="Chart 0" descr=""/>
          <p:cNvGraphicFramePr/>
          <p:nvPr/>
        </p:nvGraphicFramePr>
        <p:xfrm>
          <a:off x="4663440" y="2103120"/>
          <a:ext cx="67665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de Geração de Valor: a engenharia por trás do medidor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9280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082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Shifting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temporal de energia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29260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de tarifas intradiárias.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68680" y="38679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95020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Energia — consumo em kWh.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68680" y="489204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974336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no vazio (baixo custo) e injetar ou consumir na ponta (alto custo).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65392" y="1892808"/>
            <a:ext cx="566928" cy="566928"/>
          </a:xfrm>
          <a:prstGeom prst="ellipse">
            <a:avLst/>
          </a:prstGeom>
          <a:solidFill>
            <a:srgbClr val="2E7DA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0824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96912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do pico de demanda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65392" y="29260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cirúrgico do custo de demanda contratada.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565392" y="38679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65392" y="395020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Demanda — potência em kW.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565392" y="489204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65392" y="4974336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Descarregar a bateria somente quando o consumo ameaça ultrapassar a demanda contratada.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Alicerce Regulatório: padronização e legalidade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instrumentos sustentam a confiança do mercado — um viabiliza o negócio, o outro viabiliza a engenharia.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404" y="20632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NEGÓCIOS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00200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Marco Legal — Lei nº 14.300/2022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Instituiu a Geração Compartilhada no âmbito da Geração Distribuída.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a união de interessados via consórcio, cooperativa ou associação para compartilhar créditos de energia de uma UFV de até 3 MW.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atua como otimizador dessa injeção, maximizando o valor de cada crédito gerado.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5392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20632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96912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ENGENHARIA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296912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Técnica — ABNT NBR 17153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11112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processo de revisão estratégica (fev/2026), com base na IEC 61427-2.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requisitos rígidos de segurança e ensaio para baterias estacionárias conectadas à rede (on-grid).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 o Brasil às melhores práticas globais de transição energética.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de Receita: Geração Compartilhada na prática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349" y="2128357"/>
            <a:ext cx="296997" cy="2969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84248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4672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e armazenamento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UFV + BESS maximizam a injeção diária na rede da distribuidora (ex.: CEMIG-D).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83764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0" name="Shape 7"/>
          <p:cNvSpPr/>
          <p:nvPr/>
        </p:nvSpPr>
        <p:spPr>
          <a:xfrm>
            <a:off x="2889504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45536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213" y="2128357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25112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145536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em créditos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145536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energia injetada converte-se em créditos na proporção 1 kWh = 1 crédito (GD I).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4628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0368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0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2128357"/>
            <a:ext cx="296997" cy="29699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5486400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estrutura (SPE)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0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 aluga equipamentos e cotas para a entidade organizadora (consórcio ou cooperativa).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365492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24" name="Shape 19"/>
          <p:cNvSpPr/>
          <p:nvPr/>
        </p:nvSpPr>
        <p:spPr>
          <a:xfrm>
            <a:off x="7571232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827264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941" y="2128357"/>
            <a:ext cx="296997" cy="29699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06840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7827264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Monetização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827264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consorciados (ex.: Grupo B3) pagam o aluguel da cota com desconto atrativo (ex.: 27%).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706356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31" name="Shape 25"/>
          <p:cNvSpPr/>
          <p:nvPr/>
        </p:nvSpPr>
        <p:spPr>
          <a:xfrm>
            <a:off x="9912096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168128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4805" y="2128357"/>
            <a:ext cx="296997" cy="29699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1347704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35" name="Text 28"/>
          <p:cNvSpPr/>
          <p:nvPr/>
        </p:nvSpPr>
        <p:spPr>
          <a:xfrm>
            <a:off x="10168128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Abatimento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168128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abatem a fatura dos clientes na distribuidora e o capital retorna à SPE.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38" name="Text 31"/>
          <p:cNvSpPr/>
          <p:nvPr/>
        </p:nvSpPr>
        <p:spPr>
          <a:xfrm>
            <a:off x="77724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virtuoso: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abatimento na fatura remunera a SPE, que reinveste na operação — fechando o circuito financeiro da Geração Compartilhada.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41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do CAPEX: onde o capital é alocado?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1091672" cy="512064"/>
          </a:xfrm>
          <a:prstGeom prst="roundRect">
            <a:avLst>
              <a:gd name="adj" fmla="val 14286"/>
            </a:avLst>
          </a:prstGeom>
          <a:solidFill>
            <a:srgbClr val="EAF1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1556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caso:  </a:t>
            </a:r>
            <a:pPr indent="0" marL="0">
              <a:buNone/>
            </a:pPr>
            <a:r>
              <a:rPr lang="en-US" sz="13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híbrida de 3,0 MW (UFV) + 1.446 kWh (BESS)  ·  investimento total de </a:t>
            </a:r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milhões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874520"/>
          <a:ext cx="10835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6053328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fotovoltaicos e EPC dominam o orçamento; o sistema de baterias representa 12,59% do capital — e é ele que destrava a arbitragem.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Janela de Oportunidade Tributária  |  estudo: Minas Gerais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85800" y="155448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001000" y="1554480"/>
            <a:ext cx="3639312" cy="4480560"/>
          </a:xfrm>
          <a:prstGeom prst="roundRect">
            <a:avLst>
              <a:gd name="adj" fmla="val 2261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93608" y="184708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8332" y="1971812"/>
            <a:ext cx="317480" cy="317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93608" y="257860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tempo é a variável crítica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8293608" y="3200400"/>
            <a:ext cx="30540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Convênio ICMS nº 16/2015 garantiu isenção sobre a energia compensada.</a:t>
            </a: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retomada gradual da cobrança a partir de 2029, investidores devem posicionar seus ativos de capital intensivo (UFV + BESS) imediatamente, maximizando o fluxo de caixa líquido nos primeiros anos de operação.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Viabilidade do Sistema Híbrido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de fluxo de caixa para 20 anos  ·  tarifa B3 (CEMIG-D) com desconto de 27% na cota  ·  TMA referenciada em 15% a.a. (Selic base).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21,00%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 — Taxa Interna de Retorno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 com folga o custo de oportunidade e os ativos de renda fixa.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5152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anos e 9 meses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45152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descontado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5152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recuperação integral do capital investido de R$ 13,9 milhões.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93024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7344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R$ 6,37 mi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467344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VPL — Valor Presente Líquido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67344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de riqueza real projetada ao longo de 20 anos de operação.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593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ARBITRAGEM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102A3C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(LCOE)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R$ 538,89 / MWh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41648" y="4800600"/>
            <a:ext cx="4114800" cy="685800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20" name="Text 18"/>
          <p:cNvSpPr/>
          <p:nvPr/>
        </p:nvSpPr>
        <p:spPr>
          <a:xfrm>
            <a:off x="4041648" y="43251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LCOE da planta híbrida é substancialmente menor que a precificação da cota — o sistema é matematicamente autossustentável.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48472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2E7DAF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22792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(preço de venda da cota)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R$ 794,92 / MWh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Trajetória de Recuperação do Capital  |  break-even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85800" y="1463040"/>
          <a:ext cx="10835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5760720"/>
            <a:ext cx="10835640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5760720"/>
            <a:ext cx="10378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virada financeiro: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0 ocorre o desembolso total (CAPEX); a robustez do fluxo de caixa operacional recupera o investimento antes da metade da vida útil do BESS (20 anos).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Fronteiras de Aplicação: quem realmente se beneficia do BESS?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9050">
            <a:solidFill>
              <a:srgbClr val="F2B705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ouro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283464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357" y="2951317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770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Agronegócio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redução de até 30% nos custos energéticos no campo, protegendo margens em operações rurais de fim de linha, com baixa qualidade de rede.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" y="434340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57" y="4460077"/>
            <a:ext cx="296997" cy="296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4279392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no Mercado Livre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consumidores com demanda mínima acima de 500 kW e alta amplitude intradiária na carga: a sensibilidade tarifária maximiza a arbitragem.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2700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65392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Barreiras técnicas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565392" y="2834640"/>
            <a:ext cx="530352" cy="530352"/>
          </a:xfrm>
          <a:prstGeom prst="ellipse">
            <a:avLst/>
          </a:prstGeom>
          <a:solidFill>
            <a:srgbClr val="31485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953512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51192" y="2770632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e cargas constantes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potencial de deslocamento temporal é nulo quando a carga é flat 24/7 (equipamentos críticos e climatização). Sem picos e vales acentuados, a bateria não encontra janela operacional econômica para arbitragem.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565392" y="5166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prática: quanto maior a amplitude entre pico e vale de consumo, maior o valor capturável pelo BESS.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Síntese: a matriz energética foi redesenhada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1560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Elétrons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intermitentes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50792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>
            <a:off x="4681728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31750">
            <a:solidFill>
              <a:srgbClr val="F2B70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81728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regulação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80960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9" name="Shape 7"/>
          <p:cNvSpPr/>
          <p:nvPr/>
        </p:nvSpPr>
        <p:spPr>
          <a:xfrm>
            <a:off x="8311896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11896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financeiro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previsível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 energia deixou de ser uma “promessa futurista” de estabilidade de rede. 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meio de Peak Shaving, Time Shifting e Geração Compartilhada regulamentada, </a:t>
            </a:r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é hoje uma máquina de arbitragem financeira validada.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4892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custos de CAPEX em declínio, LCOE competitivo (R$ 538/MWh) e TIR na casa dos 21%, a transição para o BESS tornou-se o passo econômico mais lógico para investidores e grandes consumidores no mercado brasileiro. O momento da vantagem competitiva e tributária é o presente.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09728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457200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965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85800" y="3063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Revolução do Armazenamento de Energia no Brasil — panorama estratégico do BESS.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13232" y="397764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1605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 Lucas Silva Costa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 · 2026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Sonare Engenharia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Revolução do Armazenamento de Energia no Brasil (BESS)</dc:title>
  <dc:subject>PptxGenJS Presentation</dc:subject>
  <dc:creator>Eng. Lucas Silva Costa - CREA-MT 029137</dc:creator>
  <cp:lastModifiedBy>Eng. Lucas Silva Costa - CREA-MT 029137</cp:lastModifiedBy>
  <cp:revision>1</cp:revision>
  <dcterms:created xsi:type="dcterms:W3CDTF">2026-08-08T16:43:26Z</dcterms:created>
  <dcterms:modified xsi:type="dcterms:W3CDTF">2026-08-08T16:43:26Z</dcterms:modified>
</cp:coreProperties>
</file>